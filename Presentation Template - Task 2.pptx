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96" d="100"/>
          <a:sy n="96" d="100"/>
        </p:scale>
        <p:origin x="6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798838-BD1F-4682-AAF8-E905BA5248E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20B375B-54C2-4D66-BF6B-4F89561E4648}">
      <dgm:prSet phldrT="[Text]" custT="1"/>
      <dgm:spPr/>
      <dgm:t>
        <a:bodyPr/>
        <a:lstStyle/>
        <a:p>
          <a:r>
            <a:rPr lang="en-IN" sz="1600" dirty="0">
              <a:solidFill>
                <a:schemeClr val="tx1"/>
              </a:solidFill>
            </a:rPr>
            <a:t>Accuracy</a:t>
          </a:r>
          <a:br>
            <a:rPr lang="en-IN" sz="2900" dirty="0"/>
          </a:br>
          <a:r>
            <a:rPr lang="en-IN" sz="2800" b="1" dirty="0">
              <a:solidFill>
                <a:srgbClr val="002060"/>
              </a:solidFill>
            </a:rPr>
            <a:t>85.04%</a:t>
          </a:r>
        </a:p>
      </dgm:t>
    </dgm:pt>
    <dgm:pt modelId="{5A61D53D-B174-45EB-B257-64FD444CDA2C}" type="parTrans" cxnId="{5C3FC59F-019C-43AD-A2BA-60978ADAD4D0}">
      <dgm:prSet/>
      <dgm:spPr/>
      <dgm:t>
        <a:bodyPr/>
        <a:lstStyle/>
        <a:p>
          <a:endParaRPr lang="en-IN"/>
        </a:p>
      </dgm:t>
    </dgm:pt>
    <dgm:pt modelId="{A91D6E4D-2010-41ED-BE52-FAA11A4D81CA}" type="sibTrans" cxnId="{5C3FC59F-019C-43AD-A2BA-60978ADAD4D0}">
      <dgm:prSet/>
      <dgm:spPr/>
      <dgm:t>
        <a:bodyPr/>
        <a:lstStyle/>
        <a:p>
          <a:endParaRPr lang="en-IN"/>
        </a:p>
      </dgm:t>
    </dgm:pt>
    <dgm:pt modelId="{90A83768-9ED1-455A-8A6F-9C3A3F1A30EE}">
      <dgm:prSet phldrT="[Text]" custT="1"/>
      <dgm:spPr/>
      <dgm:t>
        <a:bodyPr/>
        <a:lstStyle/>
        <a:p>
          <a:r>
            <a:rPr lang="en-IN" sz="1600" dirty="0">
              <a:solidFill>
                <a:schemeClr val="tx1"/>
              </a:solidFill>
            </a:rPr>
            <a:t>ROC AUC</a:t>
          </a:r>
          <a:br>
            <a:rPr lang="en-IN" sz="2900" dirty="0"/>
          </a:br>
          <a:r>
            <a:rPr lang="en-IN" sz="2800" b="1" dirty="0">
              <a:solidFill>
                <a:srgbClr val="002060"/>
              </a:solidFill>
            </a:rPr>
            <a:t>0.770</a:t>
          </a:r>
        </a:p>
      </dgm:t>
    </dgm:pt>
    <dgm:pt modelId="{0A326E78-99F1-4041-889D-16C06C2358B7}" type="parTrans" cxnId="{00BC535C-FDC1-47EF-92E5-1C6B2FC9A5C9}">
      <dgm:prSet/>
      <dgm:spPr/>
      <dgm:t>
        <a:bodyPr/>
        <a:lstStyle/>
        <a:p>
          <a:endParaRPr lang="en-IN"/>
        </a:p>
      </dgm:t>
    </dgm:pt>
    <dgm:pt modelId="{8E8D4092-A242-4C70-AF1D-9279879114EB}" type="sibTrans" cxnId="{00BC535C-FDC1-47EF-92E5-1C6B2FC9A5C9}">
      <dgm:prSet/>
      <dgm:spPr/>
      <dgm:t>
        <a:bodyPr/>
        <a:lstStyle/>
        <a:p>
          <a:endParaRPr lang="en-IN"/>
        </a:p>
      </dgm:t>
    </dgm:pt>
    <dgm:pt modelId="{F28C2C94-8650-4CEF-A063-0CCD8BAD1938}">
      <dgm:prSet phldrT="[Text]" custT="1"/>
      <dgm:spPr/>
      <dgm:t>
        <a:bodyPr/>
        <a:lstStyle/>
        <a:p>
          <a:r>
            <a:rPr lang="en-IN" sz="1600" dirty="0">
              <a:solidFill>
                <a:schemeClr val="tx1"/>
              </a:solidFill>
            </a:rPr>
            <a:t>Recall</a:t>
          </a:r>
          <a:br>
            <a:rPr lang="en-IN" sz="2900" dirty="0"/>
          </a:br>
          <a:r>
            <a:rPr lang="en-IN" sz="2800" b="1" dirty="0">
              <a:solidFill>
                <a:srgbClr val="002060"/>
              </a:solidFill>
            </a:rPr>
            <a:t>0.85</a:t>
          </a:r>
        </a:p>
      </dgm:t>
    </dgm:pt>
    <dgm:pt modelId="{C1199578-963D-432C-AA45-CD8098F0E33E}" type="parTrans" cxnId="{78AB35A0-E860-4233-89BA-E9C4B577EACB}">
      <dgm:prSet/>
      <dgm:spPr/>
      <dgm:t>
        <a:bodyPr/>
        <a:lstStyle/>
        <a:p>
          <a:endParaRPr lang="en-IN"/>
        </a:p>
      </dgm:t>
    </dgm:pt>
    <dgm:pt modelId="{73102270-E418-4561-AF24-4798695FC9EF}" type="sibTrans" cxnId="{78AB35A0-E860-4233-89BA-E9C4B577EACB}">
      <dgm:prSet/>
      <dgm:spPr/>
      <dgm:t>
        <a:bodyPr/>
        <a:lstStyle/>
        <a:p>
          <a:endParaRPr lang="en-IN"/>
        </a:p>
      </dgm:t>
    </dgm:pt>
    <dgm:pt modelId="{1AC65C21-BC01-4A7B-B0C0-3EF1473D0123}">
      <dgm:prSet phldrT="[Text]" custT="1"/>
      <dgm:spPr/>
      <dgm:t>
        <a:bodyPr/>
        <a:lstStyle/>
        <a:p>
          <a:r>
            <a:rPr lang="en-IN" sz="1600" dirty="0">
              <a:solidFill>
                <a:schemeClr val="tx1"/>
              </a:solidFill>
            </a:rPr>
            <a:t>Precision</a:t>
          </a:r>
          <a:br>
            <a:rPr lang="en-IN" sz="2900" dirty="0"/>
          </a:br>
          <a:r>
            <a:rPr lang="en-IN" sz="2800" b="1" dirty="0">
              <a:solidFill>
                <a:srgbClr val="002060"/>
              </a:solidFill>
            </a:rPr>
            <a:t>0.72</a:t>
          </a:r>
        </a:p>
      </dgm:t>
    </dgm:pt>
    <dgm:pt modelId="{C01F3E91-4955-4DFE-A736-A5FA561E4921}" type="parTrans" cxnId="{B8C1ED12-8910-4304-BED2-C357A671EA47}">
      <dgm:prSet/>
      <dgm:spPr/>
      <dgm:t>
        <a:bodyPr/>
        <a:lstStyle/>
        <a:p>
          <a:endParaRPr lang="en-IN"/>
        </a:p>
      </dgm:t>
    </dgm:pt>
    <dgm:pt modelId="{06A1837E-8206-4D60-AC75-A7F43E7D57AF}" type="sibTrans" cxnId="{B8C1ED12-8910-4304-BED2-C357A671EA47}">
      <dgm:prSet/>
      <dgm:spPr/>
      <dgm:t>
        <a:bodyPr/>
        <a:lstStyle/>
        <a:p>
          <a:endParaRPr lang="en-IN"/>
        </a:p>
      </dgm:t>
    </dgm:pt>
    <dgm:pt modelId="{1FE7F4BB-0EBD-4153-BC42-BF3EE8C3EFCC}" type="pres">
      <dgm:prSet presAssocID="{05798838-BD1F-4682-AAF8-E905BA5248E6}" presName="diagram" presStyleCnt="0">
        <dgm:presLayoutVars>
          <dgm:dir/>
          <dgm:resizeHandles val="exact"/>
        </dgm:presLayoutVars>
      </dgm:prSet>
      <dgm:spPr/>
    </dgm:pt>
    <dgm:pt modelId="{18E1FEF6-84AC-4399-96C3-118D68F2C9DE}" type="pres">
      <dgm:prSet presAssocID="{220B375B-54C2-4D66-BF6B-4F89561E4648}" presName="node" presStyleLbl="node1" presStyleIdx="0" presStyleCnt="4">
        <dgm:presLayoutVars>
          <dgm:bulletEnabled val="1"/>
        </dgm:presLayoutVars>
      </dgm:prSet>
      <dgm:spPr/>
    </dgm:pt>
    <dgm:pt modelId="{02522C14-946D-4654-9629-D2B2CC34449A}" type="pres">
      <dgm:prSet presAssocID="{A91D6E4D-2010-41ED-BE52-FAA11A4D81CA}" presName="sibTrans" presStyleCnt="0"/>
      <dgm:spPr/>
    </dgm:pt>
    <dgm:pt modelId="{6A7CBB93-D846-43A8-8F2F-F6331D28E333}" type="pres">
      <dgm:prSet presAssocID="{90A83768-9ED1-455A-8A6F-9C3A3F1A30EE}" presName="node" presStyleLbl="node1" presStyleIdx="1" presStyleCnt="4">
        <dgm:presLayoutVars>
          <dgm:bulletEnabled val="1"/>
        </dgm:presLayoutVars>
      </dgm:prSet>
      <dgm:spPr/>
    </dgm:pt>
    <dgm:pt modelId="{7A0F4CA2-C320-4442-B6E7-46F804414DDC}" type="pres">
      <dgm:prSet presAssocID="{8E8D4092-A242-4C70-AF1D-9279879114EB}" presName="sibTrans" presStyleCnt="0"/>
      <dgm:spPr/>
    </dgm:pt>
    <dgm:pt modelId="{68EE02E4-DFFB-4545-BE81-5ADB1F8F8358}" type="pres">
      <dgm:prSet presAssocID="{F28C2C94-8650-4CEF-A063-0CCD8BAD1938}" presName="node" presStyleLbl="node1" presStyleIdx="2" presStyleCnt="4">
        <dgm:presLayoutVars>
          <dgm:bulletEnabled val="1"/>
        </dgm:presLayoutVars>
      </dgm:prSet>
      <dgm:spPr/>
    </dgm:pt>
    <dgm:pt modelId="{B84F8701-E5D7-49D4-93C7-A5515B272B8A}" type="pres">
      <dgm:prSet presAssocID="{73102270-E418-4561-AF24-4798695FC9EF}" presName="sibTrans" presStyleCnt="0"/>
      <dgm:spPr/>
    </dgm:pt>
    <dgm:pt modelId="{D1C390DE-8B92-4C5F-B5FD-6FE984FAD05F}" type="pres">
      <dgm:prSet presAssocID="{1AC65C21-BC01-4A7B-B0C0-3EF1473D0123}" presName="node" presStyleLbl="node1" presStyleIdx="3" presStyleCnt="4">
        <dgm:presLayoutVars>
          <dgm:bulletEnabled val="1"/>
        </dgm:presLayoutVars>
      </dgm:prSet>
      <dgm:spPr/>
    </dgm:pt>
  </dgm:ptLst>
  <dgm:cxnLst>
    <dgm:cxn modelId="{F61E6408-08DA-486B-A0A9-ED00C558494F}" type="presOf" srcId="{220B375B-54C2-4D66-BF6B-4F89561E4648}" destId="{18E1FEF6-84AC-4399-96C3-118D68F2C9DE}" srcOrd="0" destOrd="0" presId="urn:microsoft.com/office/officeart/2005/8/layout/default"/>
    <dgm:cxn modelId="{B8C1ED12-8910-4304-BED2-C357A671EA47}" srcId="{05798838-BD1F-4682-AAF8-E905BA5248E6}" destId="{1AC65C21-BC01-4A7B-B0C0-3EF1473D0123}" srcOrd="3" destOrd="0" parTransId="{C01F3E91-4955-4DFE-A736-A5FA561E4921}" sibTransId="{06A1837E-8206-4D60-AC75-A7F43E7D57AF}"/>
    <dgm:cxn modelId="{00BC535C-FDC1-47EF-92E5-1C6B2FC9A5C9}" srcId="{05798838-BD1F-4682-AAF8-E905BA5248E6}" destId="{90A83768-9ED1-455A-8A6F-9C3A3F1A30EE}" srcOrd="1" destOrd="0" parTransId="{0A326E78-99F1-4041-889D-16C06C2358B7}" sibTransId="{8E8D4092-A242-4C70-AF1D-9279879114EB}"/>
    <dgm:cxn modelId="{703FE855-BB6B-405C-819C-770198D5928F}" type="presOf" srcId="{1AC65C21-BC01-4A7B-B0C0-3EF1473D0123}" destId="{D1C390DE-8B92-4C5F-B5FD-6FE984FAD05F}" srcOrd="0" destOrd="0" presId="urn:microsoft.com/office/officeart/2005/8/layout/default"/>
    <dgm:cxn modelId="{D9CFA596-2A7B-4944-90A9-A45B19BA88FD}" type="presOf" srcId="{05798838-BD1F-4682-AAF8-E905BA5248E6}" destId="{1FE7F4BB-0EBD-4153-BC42-BF3EE8C3EFCC}" srcOrd="0" destOrd="0" presId="urn:microsoft.com/office/officeart/2005/8/layout/default"/>
    <dgm:cxn modelId="{5C3FC59F-019C-43AD-A2BA-60978ADAD4D0}" srcId="{05798838-BD1F-4682-AAF8-E905BA5248E6}" destId="{220B375B-54C2-4D66-BF6B-4F89561E4648}" srcOrd="0" destOrd="0" parTransId="{5A61D53D-B174-45EB-B257-64FD444CDA2C}" sibTransId="{A91D6E4D-2010-41ED-BE52-FAA11A4D81CA}"/>
    <dgm:cxn modelId="{78AB35A0-E860-4233-89BA-E9C4B577EACB}" srcId="{05798838-BD1F-4682-AAF8-E905BA5248E6}" destId="{F28C2C94-8650-4CEF-A063-0CCD8BAD1938}" srcOrd="2" destOrd="0" parTransId="{C1199578-963D-432C-AA45-CD8098F0E33E}" sibTransId="{73102270-E418-4561-AF24-4798695FC9EF}"/>
    <dgm:cxn modelId="{B409E5E3-F507-4F31-A3A6-A3C7AFF9FE9A}" type="presOf" srcId="{F28C2C94-8650-4CEF-A063-0CCD8BAD1938}" destId="{68EE02E4-DFFB-4545-BE81-5ADB1F8F8358}" srcOrd="0" destOrd="0" presId="urn:microsoft.com/office/officeart/2005/8/layout/default"/>
    <dgm:cxn modelId="{03A13FFB-E725-42EA-8CAD-AEBD9085DC47}" type="presOf" srcId="{90A83768-9ED1-455A-8A6F-9C3A3F1A30EE}" destId="{6A7CBB93-D846-43A8-8F2F-F6331D28E333}" srcOrd="0" destOrd="0" presId="urn:microsoft.com/office/officeart/2005/8/layout/default"/>
    <dgm:cxn modelId="{F4B35C17-DF1B-4D0E-B6E1-43C391011904}" type="presParOf" srcId="{1FE7F4BB-0EBD-4153-BC42-BF3EE8C3EFCC}" destId="{18E1FEF6-84AC-4399-96C3-118D68F2C9DE}" srcOrd="0" destOrd="0" presId="urn:microsoft.com/office/officeart/2005/8/layout/default"/>
    <dgm:cxn modelId="{9F19FE7A-EB53-49C1-953E-8C4DB0C4F704}" type="presParOf" srcId="{1FE7F4BB-0EBD-4153-BC42-BF3EE8C3EFCC}" destId="{02522C14-946D-4654-9629-D2B2CC34449A}" srcOrd="1" destOrd="0" presId="urn:microsoft.com/office/officeart/2005/8/layout/default"/>
    <dgm:cxn modelId="{41861905-0340-49C6-B0DB-AD4960214FD8}" type="presParOf" srcId="{1FE7F4BB-0EBD-4153-BC42-BF3EE8C3EFCC}" destId="{6A7CBB93-D846-43A8-8F2F-F6331D28E333}" srcOrd="2" destOrd="0" presId="urn:microsoft.com/office/officeart/2005/8/layout/default"/>
    <dgm:cxn modelId="{6B8A68F2-5F50-4280-AB19-2F6701F0A042}" type="presParOf" srcId="{1FE7F4BB-0EBD-4153-BC42-BF3EE8C3EFCC}" destId="{7A0F4CA2-C320-4442-B6E7-46F804414DDC}" srcOrd="3" destOrd="0" presId="urn:microsoft.com/office/officeart/2005/8/layout/default"/>
    <dgm:cxn modelId="{5BBF6C61-AE26-4470-B022-17719512F722}" type="presParOf" srcId="{1FE7F4BB-0EBD-4153-BC42-BF3EE8C3EFCC}" destId="{68EE02E4-DFFB-4545-BE81-5ADB1F8F8358}" srcOrd="4" destOrd="0" presId="urn:microsoft.com/office/officeart/2005/8/layout/default"/>
    <dgm:cxn modelId="{BC5182B5-7030-4C5D-89DB-215BFDDB94B9}" type="presParOf" srcId="{1FE7F4BB-0EBD-4153-BC42-BF3EE8C3EFCC}" destId="{B84F8701-E5D7-49D4-93C7-A5515B272B8A}" srcOrd="5" destOrd="0" presId="urn:microsoft.com/office/officeart/2005/8/layout/default"/>
    <dgm:cxn modelId="{EE77091B-058A-4B7C-ADCF-E5DC281736B3}" type="presParOf" srcId="{1FE7F4BB-0EBD-4153-BC42-BF3EE8C3EFCC}" destId="{D1C390DE-8B92-4C5F-B5FD-6FE984FAD05F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E1FEF6-84AC-4399-96C3-118D68F2C9DE}">
      <dsp:nvSpPr>
        <dsp:cNvPr id="0" name=""/>
        <dsp:cNvSpPr/>
      </dsp:nvSpPr>
      <dsp:spPr>
        <a:xfrm>
          <a:off x="379" y="41556"/>
          <a:ext cx="1479366" cy="8876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tx1"/>
              </a:solidFill>
            </a:rPr>
            <a:t>Accuracy</a:t>
          </a:r>
          <a:br>
            <a:rPr lang="en-IN" sz="2900" kern="1200" dirty="0"/>
          </a:br>
          <a:r>
            <a:rPr lang="en-IN" sz="2800" b="1" kern="1200" dirty="0">
              <a:solidFill>
                <a:srgbClr val="002060"/>
              </a:solidFill>
            </a:rPr>
            <a:t>85.04%</a:t>
          </a:r>
        </a:p>
      </dsp:txBody>
      <dsp:txXfrm>
        <a:off x="379" y="41556"/>
        <a:ext cx="1479366" cy="887619"/>
      </dsp:txXfrm>
    </dsp:sp>
    <dsp:sp modelId="{6A7CBB93-D846-43A8-8F2F-F6331D28E333}">
      <dsp:nvSpPr>
        <dsp:cNvPr id="0" name=""/>
        <dsp:cNvSpPr/>
      </dsp:nvSpPr>
      <dsp:spPr>
        <a:xfrm>
          <a:off x="1627682" y="41556"/>
          <a:ext cx="1479366" cy="8876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tx1"/>
              </a:solidFill>
            </a:rPr>
            <a:t>ROC AUC</a:t>
          </a:r>
          <a:br>
            <a:rPr lang="en-IN" sz="2900" kern="1200" dirty="0"/>
          </a:br>
          <a:r>
            <a:rPr lang="en-IN" sz="2800" b="1" kern="1200" dirty="0">
              <a:solidFill>
                <a:srgbClr val="002060"/>
              </a:solidFill>
            </a:rPr>
            <a:t>0.770</a:t>
          </a:r>
        </a:p>
      </dsp:txBody>
      <dsp:txXfrm>
        <a:off x="1627682" y="41556"/>
        <a:ext cx="1479366" cy="887619"/>
      </dsp:txXfrm>
    </dsp:sp>
    <dsp:sp modelId="{68EE02E4-DFFB-4545-BE81-5ADB1F8F8358}">
      <dsp:nvSpPr>
        <dsp:cNvPr id="0" name=""/>
        <dsp:cNvSpPr/>
      </dsp:nvSpPr>
      <dsp:spPr>
        <a:xfrm>
          <a:off x="379" y="1077113"/>
          <a:ext cx="1479366" cy="8876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tx1"/>
              </a:solidFill>
            </a:rPr>
            <a:t>Recall</a:t>
          </a:r>
          <a:br>
            <a:rPr lang="en-IN" sz="2900" kern="1200" dirty="0"/>
          </a:br>
          <a:r>
            <a:rPr lang="en-IN" sz="2800" b="1" kern="1200" dirty="0">
              <a:solidFill>
                <a:srgbClr val="002060"/>
              </a:solidFill>
            </a:rPr>
            <a:t>0.85</a:t>
          </a:r>
        </a:p>
      </dsp:txBody>
      <dsp:txXfrm>
        <a:off x="379" y="1077113"/>
        <a:ext cx="1479366" cy="887619"/>
      </dsp:txXfrm>
    </dsp:sp>
    <dsp:sp modelId="{D1C390DE-8B92-4C5F-B5FD-6FE984FAD05F}">
      <dsp:nvSpPr>
        <dsp:cNvPr id="0" name=""/>
        <dsp:cNvSpPr/>
      </dsp:nvSpPr>
      <dsp:spPr>
        <a:xfrm>
          <a:off x="1627682" y="1077113"/>
          <a:ext cx="1479366" cy="8876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tx1"/>
              </a:solidFill>
            </a:rPr>
            <a:t>Precision</a:t>
          </a:r>
          <a:br>
            <a:rPr lang="en-IN" sz="2900" kern="1200" dirty="0"/>
          </a:br>
          <a:r>
            <a:rPr lang="en-IN" sz="2800" b="1" kern="1200" dirty="0">
              <a:solidFill>
                <a:srgbClr val="002060"/>
              </a:solidFill>
            </a:rPr>
            <a:t>0.72</a:t>
          </a:r>
        </a:p>
      </dsp:txBody>
      <dsp:txXfrm>
        <a:off x="1627682" y="1077113"/>
        <a:ext cx="1479366" cy="8876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SOLELY FOR PURPOSES OF FORAGE WORK EXPERIENCE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589CAD2-6726-981D-B32C-8A3A564E472D}"/>
              </a:ext>
            </a:extLst>
          </p:cNvPr>
          <p:cNvSpPr txBox="1">
            <a:spLocks/>
          </p:cNvSpPr>
          <p:nvPr userDrawn="1"/>
        </p:nvSpPr>
        <p:spPr>
          <a:xfrm>
            <a:off x="4038600" y="20796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SOLELY FOR PURPOSES OF FORAGE WORK EXPERIENCE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1873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128761-12A0-4C5D-D83F-4EB0E09753AF}"/>
              </a:ext>
            </a:extLst>
          </p:cNvPr>
          <p:cNvSpPr txBox="1">
            <a:spLocks/>
          </p:cNvSpPr>
          <p:nvPr userDrawn="1"/>
        </p:nvSpPr>
        <p:spPr>
          <a:xfrm>
            <a:off x="4038600" y="-172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SOLELY FOR PURPOSES OF FORAGE WORK EXPERIENCE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24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9084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7889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215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2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6938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8059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732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082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4575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6755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6839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0069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9405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5417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4070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67438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BCD4D-82A1-5AD0-053C-2CF73DA5B6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British Airways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30DC87-B7BC-1B7B-AB86-8B0F1FACBC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868" y="4757475"/>
            <a:ext cx="8825658" cy="861420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Customer Booking Probability Analysis 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306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6D1A79-CE07-D496-3D23-C50469DA427A}"/>
              </a:ext>
            </a:extLst>
          </p:cNvPr>
          <p:cNvSpPr/>
          <p:nvPr/>
        </p:nvSpPr>
        <p:spPr>
          <a:xfrm>
            <a:off x="129208" y="3925595"/>
            <a:ext cx="4399722" cy="270275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u="sng" dirty="0">
              <a:solidFill>
                <a:srgbClr val="00206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DADD12-D653-7463-3EAD-70846DE1F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544" y="457096"/>
            <a:ext cx="7106478" cy="315912"/>
          </a:xfrm>
        </p:spPr>
        <p:txBody>
          <a:bodyPr>
            <a:no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Customer Booking Probability Analysis </a:t>
            </a:r>
            <a:endParaRPr lang="en-GB" sz="2000" b="1" dirty="0">
              <a:solidFill>
                <a:srgbClr val="C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DCB7128-D599-75A3-4577-236DA37B65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0650549"/>
              </p:ext>
            </p:extLst>
          </p:nvPr>
        </p:nvGraphicFramePr>
        <p:xfrm>
          <a:off x="775355" y="4273825"/>
          <a:ext cx="3107428" cy="20062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AD8D012-8899-0D7C-7D33-C95702FDC6FB}"/>
              </a:ext>
            </a:extLst>
          </p:cNvPr>
          <p:cNvSpPr txBox="1"/>
          <p:nvPr/>
        </p:nvSpPr>
        <p:spPr>
          <a:xfrm>
            <a:off x="1238191" y="3966048"/>
            <a:ext cx="278148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</a:rPr>
              <a:t>Model Performance </a:t>
            </a:r>
          </a:p>
          <a:p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D7AD83-FE2F-002A-DBF2-5D765A1D3605}"/>
              </a:ext>
            </a:extLst>
          </p:cNvPr>
          <p:cNvSpPr/>
          <p:nvPr/>
        </p:nvSpPr>
        <p:spPr>
          <a:xfrm>
            <a:off x="129208" y="915066"/>
            <a:ext cx="5539409" cy="270275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5C8FC5-663F-E13C-06E6-4CB59F0E5847}"/>
              </a:ext>
            </a:extLst>
          </p:cNvPr>
          <p:cNvSpPr txBox="1"/>
          <p:nvPr/>
        </p:nvSpPr>
        <p:spPr>
          <a:xfrm>
            <a:off x="2033841" y="975933"/>
            <a:ext cx="1730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Key Findings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BD3D4E-2E6A-78E2-FD40-85540D5F9275}"/>
              </a:ext>
            </a:extLst>
          </p:cNvPr>
          <p:cNvSpPr txBox="1"/>
          <p:nvPr/>
        </p:nvSpPr>
        <p:spPr>
          <a:xfrm>
            <a:off x="261729" y="1299098"/>
            <a:ext cx="540688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Century Gothic (Body)"/>
              </a:rPr>
              <a:t>Overall booking completion rate: 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Century Gothic (Body)"/>
              </a:rPr>
              <a:t>47.2%</a:t>
            </a:r>
            <a:endParaRPr lang="en-US" sz="1400" b="0" i="0" dirty="0">
              <a:solidFill>
                <a:schemeClr val="bg1"/>
              </a:solidFill>
              <a:effectLst/>
              <a:latin typeface="Century Gothic (Body)"/>
            </a:endParaRP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Century Gothic (Body)"/>
              </a:rPr>
              <a:t>Long purchase lead times (&gt;90 days) associated with 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Century Gothic (Body)"/>
              </a:rPr>
              <a:t>58% higher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Century Gothic (Body)"/>
              </a:rPr>
              <a:t> completion rates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Century Gothic (Body)"/>
              </a:rPr>
              <a:t>Customers requesting additional services are 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Century Gothic (Body)"/>
              </a:rPr>
              <a:t>2.3x more likely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Century Gothic (Body)"/>
              </a:rPr>
              <a:t> to complete bookings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Century Gothic (Body)"/>
              </a:rPr>
              <a:t>Weekend flight departures have 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Century Gothic (Body)"/>
              </a:rPr>
              <a:t>12% lower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Century Gothic (Body)"/>
              </a:rPr>
              <a:t> completion rates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Century Gothic (Body)"/>
              </a:rPr>
              <a:t>Mobile channel bookings have the 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Century Gothic (Body)"/>
              </a:rPr>
              <a:t>lowest completion rates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Century Gothic (Body)"/>
              </a:rPr>
              <a:t> (32.4%)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EFA7892-8524-7130-D18D-CD2382D22BD2}"/>
              </a:ext>
            </a:extLst>
          </p:cNvPr>
          <p:cNvSpPr/>
          <p:nvPr/>
        </p:nvSpPr>
        <p:spPr>
          <a:xfrm>
            <a:off x="5961351" y="915066"/>
            <a:ext cx="3246783" cy="288169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DC7980-86D2-37F0-B055-063E0BBFC47E}"/>
              </a:ext>
            </a:extLst>
          </p:cNvPr>
          <p:cNvSpPr txBox="1"/>
          <p:nvPr/>
        </p:nvSpPr>
        <p:spPr>
          <a:xfrm>
            <a:off x="6231102" y="1111816"/>
            <a:ext cx="2638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Top Predictive Factors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11FAFD-466D-F83A-6130-B1029F4525AF}"/>
              </a:ext>
            </a:extLst>
          </p:cNvPr>
          <p:cNvSpPr txBox="1"/>
          <p:nvPr/>
        </p:nvSpPr>
        <p:spPr>
          <a:xfrm>
            <a:off x="6961403" y="2046365"/>
            <a:ext cx="6824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9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66D54D-999D-4DEC-7387-37A2B2B3B67C}"/>
              </a:ext>
            </a:extLst>
          </p:cNvPr>
          <p:cNvSpPr txBox="1"/>
          <p:nvPr/>
        </p:nvSpPr>
        <p:spPr>
          <a:xfrm>
            <a:off x="6062979" y="1761017"/>
            <a:ext cx="297216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1. </a:t>
            </a:r>
            <a:r>
              <a:rPr lang="en-US" sz="1100" b="1" dirty="0" err="1">
                <a:solidFill>
                  <a:schemeClr val="bg1"/>
                </a:solidFill>
              </a:rPr>
              <a:t>booking_origin_Malaysia</a:t>
            </a:r>
            <a:r>
              <a:rPr lang="en-US" sz="1100" b="1" dirty="0">
                <a:solidFill>
                  <a:schemeClr val="bg1"/>
                </a:solidFill>
              </a:rPr>
              <a:t>: 0.1531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2. </a:t>
            </a:r>
            <a:r>
              <a:rPr lang="en-US" sz="1100" b="1" dirty="0" err="1">
                <a:solidFill>
                  <a:schemeClr val="bg1"/>
                </a:solidFill>
              </a:rPr>
              <a:t>booking_origin_Australia</a:t>
            </a:r>
            <a:r>
              <a:rPr lang="en-US" sz="1100" b="1" dirty="0">
                <a:solidFill>
                  <a:schemeClr val="bg1"/>
                </a:solidFill>
              </a:rPr>
              <a:t>: 0.1464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3. </a:t>
            </a:r>
            <a:r>
              <a:rPr lang="en-US" sz="1100" b="1" dirty="0" err="1">
                <a:solidFill>
                  <a:schemeClr val="bg1"/>
                </a:solidFill>
              </a:rPr>
              <a:t>length_of_stay</a:t>
            </a:r>
            <a:r>
              <a:rPr lang="en-US" sz="1100" b="1" dirty="0">
                <a:solidFill>
                  <a:schemeClr val="bg1"/>
                </a:solidFill>
              </a:rPr>
              <a:t>: 0.0661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4. </a:t>
            </a:r>
            <a:r>
              <a:rPr lang="en-US" sz="1100" b="1" dirty="0" err="1">
                <a:solidFill>
                  <a:schemeClr val="bg1"/>
                </a:solidFill>
              </a:rPr>
              <a:t>flight_duration</a:t>
            </a:r>
            <a:r>
              <a:rPr lang="en-US" sz="1100" b="1" dirty="0">
                <a:solidFill>
                  <a:schemeClr val="bg1"/>
                </a:solidFill>
              </a:rPr>
              <a:t>: 0.0452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5. </a:t>
            </a:r>
            <a:r>
              <a:rPr lang="en-US" sz="1100" b="1" dirty="0" err="1">
                <a:solidFill>
                  <a:schemeClr val="bg1"/>
                </a:solidFill>
              </a:rPr>
              <a:t>route_PENTPE</a:t>
            </a:r>
            <a:r>
              <a:rPr lang="en-US" sz="1100" b="1" dirty="0">
                <a:solidFill>
                  <a:schemeClr val="bg1"/>
                </a:solidFill>
              </a:rPr>
              <a:t>: 0.0364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6. </a:t>
            </a:r>
            <a:r>
              <a:rPr lang="en-US" sz="1100" b="1" dirty="0" err="1">
                <a:solidFill>
                  <a:schemeClr val="bg1"/>
                </a:solidFill>
              </a:rPr>
              <a:t>purchase_lead</a:t>
            </a:r>
            <a:r>
              <a:rPr lang="en-US" sz="1100" b="1" dirty="0">
                <a:solidFill>
                  <a:schemeClr val="bg1"/>
                </a:solidFill>
              </a:rPr>
              <a:t>: 0.0258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7. </a:t>
            </a:r>
            <a:r>
              <a:rPr lang="en-US" sz="1100" b="1" dirty="0" err="1">
                <a:solidFill>
                  <a:schemeClr val="bg1"/>
                </a:solidFill>
              </a:rPr>
              <a:t>booking_complexity</a:t>
            </a:r>
            <a:r>
              <a:rPr lang="en-US" sz="1100" b="1" dirty="0">
                <a:solidFill>
                  <a:schemeClr val="bg1"/>
                </a:solidFill>
              </a:rPr>
              <a:t>: 0.0226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8. </a:t>
            </a:r>
            <a:r>
              <a:rPr lang="en-US" sz="1100" b="1" dirty="0" err="1">
                <a:solidFill>
                  <a:schemeClr val="bg1"/>
                </a:solidFill>
              </a:rPr>
              <a:t>flight_duration_category_Long</a:t>
            </a:r>
            <a:r>
              <a:rPr lang="en-US" sz="1100" b="1" dirty="0">
                <a:solidFill>
                  <a:schemeClr val="bg1"/>
                </a:solidFill>
              </a:rPr>
              <a:t>: 0.0210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9. duration_bins_2-5 hours: 0.0208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10. </a:t>
            </a:r>
            <a:r>
              <a:rPr lang="en-US" sz="1100" b="1" dirty="0" err="1">
                <a:solidFill>
                  <a:schemeClr val="bg1"/>
                </a:solidFill>
              </a:rPr>
              <a:t>booking_origin_Indonesia</a:t>
            </a:r>
            <a:r>
              <a:rPr lang="en-US" sz="1100" b="1" dirty="0">
                <a:solidFill>
                  <a:schemeClr val="bg1"/>
                </a:solidFill>
              </a:rPr>
              <a:t>: 0.0193</a:t>
            </a:r>
            <a:endParaRPr lang="en-IN" sz="1100" b="1" dirty="0">
              <a:solidFill>
                <a:schemeClr val="bg1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661EE9D-985F-F5BD-FD2C-56214B41DA8D}"/>
              </a:ext>
            </a:extLst>
          </p:cNvPr>
          <p:cNvSpPr/>
          <p:nvPr/>
        </p:nvSpPr>
        <p:spPr>
          <a:xfrm>
            <a:off x="4831371" y="3925595"/>
            <a:ext cx="6208643" cy="283158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9E98A4-7159-1611-E28A-74EF8649EBD8}"/>
              </a:ext>
            </a:extLst>
          </p:cNvPr>
          <p:cNvSpPr txBox="1"/>
          <p:nvPr/>
        </p:nvSpPr>
        <p:spPr>
          <a:xfrm>
            <a:off x="6217853" y="3946968"/>
            <a:ext cx="3603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Suggested Recommendations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41BE96-82FC-CDA4-CE50-0FC0044B8AF1}"/>
              </a:ext>
            </a:extLst>
          </p:cNvPr>
          <p:cNvSpPr txBox="1"/>
          <p:nvPr/>
        </p:nvSpPr>
        <p:spPr>
          <a:xfrm>
            <a:off x="5040658" y="4392072"/>
            <a:ext cx="595826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1. Focus on optimizing the booking process for the most influential factors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2. Consider targeted interventions for customer segments with lower completion rates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3. Use the predictive model to identify bookings at risk of abandonment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4. A/B test different approaches to address the key factors influencing booking completion</a:t>
            </a:r>
            <a:endParaRPr lang="en-IN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0817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89</TotalTime>
  <Words>225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ADLaM Display</vt:lpstr>
      <vt:lpstr>Arial</vt:lpstr>
      <vt:lpstr>Century Gothic</vt:lpstr>
      <vt:lpstr>Century Gothic (Body)</vt:lpstr>
      <vt:lpstr>Wingdings 3</vt:lpstr>
      <vt:lpstr>Ion</vt:lpstr>
      <vt:lpstr>British Airways</vt:lpstr>
      <vt:lpstr>Customer Booking Probability Analysis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Susan Robinson</dc:creator>
  <cp:lastModifiedBy>Pratham Chopra</cp:lastModifiedBy>
  <cp:revision>3</cp:revision>
  <dcterms:created xsi:type="dcterms:W3CDTF">2022-12-06T11:13:27Z</dcterms:created>
  <dcterms:modified xsi:type="dcterms:W3CDTF">2025-05-07T17:49:16Z</dcterms:modified>
</cp:coreProperties>
</file>